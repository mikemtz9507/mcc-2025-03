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7" r:id="rId2"/>
    <p:sldId id="372" r:id="rId3"/>
    <p:sldId id="375" r:id="rId4"/>
    <p:sldId id="377" r:id="rId5"/>
    <p:sldId id="378" r:id="rId6"/>
    <p:sldId id="373" r:id="rId7"/>
    <p:sldId id="362" r:id="rId8"/>
    <p:sldId id="364" r:id="rId9"/>
    <p:sldId id="376" r:id="rId10"/>
    <p:sldId id="37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A2A2"/>
    <a:srgbClr val="0033CC"/>
    <a:srgbClr val="FF9900"/>
    <a:srgbClr val="00FFFF"/>
    <a:srgbClr val="33CC33"/>
    <a:srgbClr val="66FF33"/>
    <a:srgbClr val="00FF00"/>
    <a:srgbClr val="CCFF33"/>
    <a:srgbClr val="548235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695" autoAdjust="0"/>
    <p:restoredTop sz="94353" autoAdjust="0"/>
  </p:normalViewPr>
  <p:slideViewPr>
    <p:cSldViewPr snapToGrid="0" showGuides="1">
      <p:cViewPr varScale="1">
        <p:scale>
          <a:sx n="82" d="100"/>
          <a:sy n="82" d="100"/>
        </p:scale>
        <p:origin x="18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14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F442688-DA75-A5AA-13C0-4B1DD00B20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9A9B4F7-7539-719B-B41F-1E2100E59D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BB98E8-B219-4EDF-A19D-1D5BEDE7BAAB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2693074-F054-F924-E8DE-504121FED0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2C4ACC-EFAC-C16B-E98C-2397F27BD5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6A95FE-2F87-4DEE-9171-902631F1E14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2229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AF397-8F1F-48EE-8AA1-4C58A7B7FF87}" type="datetimeFigureOut">
              <a:rPr lang="es-MX" smtClean="0"/>
              <a:t>24/09/2025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C98AB-7CDB-484F-91AC-102C090752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60829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s-MX" sz="10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B0FBF6-84C2-4E17-81BB-57CA38B6859F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0850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">
            <a:extLst>
              <a:ext uri="{FF2B5EF4-FFF2-40B4-BE49-F238E27FC236}">
                <a16:creationId xmlns:a16="http://schemas.microsoft.com/office/drawing/2014/main" id="{115E2913-D75A-C90A-22FD-B91E897045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82254"/>
            <a:ext cx="9144000" cy="56757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3464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CFD22718-B493-1937-AE81-13B2226F5C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508" y="6122706"/>
            <a:ext cx="1064867" cy="65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92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254428AB-72A7-BF52-F4E2-0FD27CD9983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5" y="12313"/>
            <a:ext cx="2494586" cy="1059105"/>
          </a:xfrm>
          <a:prstGeom prst="rect">
            <a:avLst/>
          </a:prstGeom>
        </p:spPr>
      </p:pic>
      <p:pic>
        <p:nvPicPr>
          <p:cNvPr id="6" name="Imagen 5" descr="Imagen que contiene Forma&#10;&#10;Descripción generada automáticamente">
            <a:extLst>
              <a:ext uri="{FF2B5EF4-FFF2-40B4-BE49-F238E27FC236}">
                <a16:creationId xmlns:a16="http://schemas.microsoft.com/office/drawing/2014/main" id="{2DF21BBB-B213-4B5A-69F4-E0D1E5EB058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156" y="12313"/>
            <a:ext cx="3130783" cy="97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416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7BAC54E-3857-0EF4-6D5B-01C6D394EFF1}"/>
              </a:ext>
            </a:extLst>
          </p:cNvPr>
          <p:cNvSpPr txBox="1"/>
          <p:nvPr/>
        </p:nvSpPr>
        <p:spPr>
          <a:xfrm>
            <a:off x="599845" y="1534572"/>
            <a:ext cx="7944308" cy="323165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Evaluación y Detección de Emociones en Textos Educativos en el Área             Media- Superior</a:t>
            </a:r>
            <a:endParaRPr lang="es-MX" sz="3600" dirty="0"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algn="ctr"/>
            <a:endParaRPr lang="es-MX" sz="3600" dirty="0"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algn="ctr"/>
            <a:r>
              <a:rPr lang="es-MX" sz="2400" b="1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Ing. Miguel Martínez Montes</a:t>
            </a:r>
            <a:endParaRPr lang="es-MX" sz="4400" b="1" i="1" dirty="0"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algn="r"/>
            <a:endParaRPr lang="es-MX" sz="3600" i="1" dirty="0"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4" name="Cuadro de texto 2">
            <a:extLst>
              <a:ext uri="{FF2B5EF4-FFF2-40B4-BE49-F238E27FC236}">
                <a16:creationId xmlns:a16="http://schemas.microsoft.com/office/drawing/2014/main" id="{76902C46-E24B-F6A5-AC5C-5B886C3C3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557" y="738182"/>
            <a:ext cx="1814830" cy="55372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r>
              <a:rPr lang="es-ES_tradnl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División de Estudios de Posgrado e Investigación</a:t>
            </a:r>
            <a:endParaRPr lang="es-MX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089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 de texto 2">
            <a:extLst>
              <a:ext uri="{FF2B5EF4-FFF2-40B4-BE49-F238E27FC236}">
                <a16:creationId xmlns:a16="http://schemas.microsoft.com/office/drawing/2014/main" id="{A984D249-CAAF-AFF8-5054-7DCBDBF7D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557" y="738182"/>
            <a:ext cx="1814830" cy="55372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r>
              <a:rPr lang="es-ES_tradnl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División de Estudios de Posgrado e Investigación</a:t>
            </a:r>
            <a:endParaRPr lang="es-MX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5" name="Marcador de contenido 3">
            <a:extLst>
              <a:ext uri="{FF2B5EF4-FFF2-40B4-BE49-F238E27FC236}">
                <a16:creationId xmlns:a16="http://schemas.microsoft.com/office/drawing/2014/main" id="{551483A7-FDB1-9C1D-2B9D-29E7157F4D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8036397"/>
              </p:ext>
            </p:extLst>
          </p:nvPr>
        </p:nvGraphicFramePr>
        <p:xfrm>
          <a:off x="1054360" y="2998340"/>
          <a:ext cx="7180757" cy="3407476"/>
        </p:xfrm>
        <a:graphic>
          <a:graphicData uri="http://schemas.openxmlformats.org/drawingml/2006/table">
            <a:tbl>
              <a:tblPr/>
              <a:tblGrid>
                <a:gridCol w="1192186">
                  <a:extLst>
                    <a:ext uri="{9D8B030D-6E8A-4147-A177-3AD203B41FA5}">
                      <a16:colId xmlns:a16="http://schemas.microsoft.com/office/drawing/2014/main" val="2727776584"/>
                    </a:ext>
                  </a:extLst>
                </a:gridCol>
                <a:gridCol w="1782254">
                  <a:extLst>
                    <a:ext uri="{9D8B030D-6E8A-4147-A177-3AD203B41FA5}">
                      <a16:colId xmlns:a16="http://schemas.microsoft.com/office/drawing/2014/main" val="2124910598"/>
                    </a:ext>
                  </a:extLst>
                </a:gridCol>
                <a:gridCol w="4206317">
                  <a:extLst>
                    <a:ext uri="{9D8B030D-6E8A-4147-A177-3AD203B41FA5}">
                      <a16:colId xmlns:a16="http://schemas.microsoft.com/office/drawing/2014/main" val="1180771694"/>
                    </a:ext>
                  </a:extLst>
                </a:gridCol>
              </a:tblGrid>
              <a:tr h="3036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Atributo</a:t>
                      </a:r>
                      <a:endParaRPr lang="es-MX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Tipo de variable</a:t>
                      </a:r>
                      <a:endParaRPr lang="es-MX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Descripción</a:t>
                      </a:r>
                      <a:endParaRPr lang="es-MX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12213"/>
                  </a:ext>
                </a:extLst>
              </a:tr>
              <a:tr h="7316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Año</a:t>
                      </a:r>
                      <a:endParaRPr lang="es-MX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Cuantitativa discreta (o continua, dependiendo del uso)</a:t>
                      </a:r>
                      <a:endParaRPr lang="es-MX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Representa un valor numérico (ej. 2025). Si solo se usa como etiqueta de tiempo, puede considerarse categórica ordinal.</a:t>
                      </a:r>
                      <a:endParaRPr lang="es-E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690631"/>
                  </a:ext>
                </a:extLst>
              </a:tr>
              <a:tr h="5074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Categoría</a:t>
                      </a:r>
                      <a:endParaRPr lang="es-MX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Cualitativa nominal</a:t>
                      </a:r>
                      <a:endParaRPr lang="es-MX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Describe una clasificación sin orden (ej. "Estudiante", "Profesor", "Administrativo").</a:t>
                      </a:r>
                      <a:endParaRPr lang="es-E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307183"/>
                  </a:ext>
                </a:extLst>
              </a:tr>
              <a:tr h="5074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Recomendación</a:t>
                      </a:r>
                      <a:endParaRPr lang="es-MX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Cualitativa ordinal</a:t>
                      </a:r>
                      <a:endParaRPr lang="es-MX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Evaluación de 0-9 en el que se clasificaran "Muy Malo- 0 a 2", "Malo- 2 a 4",  "Neutral- 4 a 6", "Bueno- 6 a 8", "Muy Bueno- 8 a 10"</a:t>
                      </a:r>
                      <a:endParaRPr lang="es-E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364694"/>
                  </a:ext>
                </a:extLst>
              </a:tr>
              <a:tr h="2832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Amabilidad</a:t>
                      </a:r>
                      <a:endParaRPr lang="es-MX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Cualitativa ordinal</a:t>
                      </a:r>
                      <a:endParaRPr lang="es-MX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"Muy malo"-1 , "Malo - 2", "Neutral- 3", "Bueno - 4" y "Muy Bueno- 5"</a:t>
                      </a:r>
                      <a:endParaRPr lang="es-E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01162"/>
                  </a:ext>
                </a:extLst>
              </a:tr>
              <a:tr h="2832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Asesorías</a:t>
                      </a:r>
                      <a:endParaRPr lang="es-MX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Cualitativa ordinal</a:t>
                      </a:r>
                      <a:endParaRPr lang="es-MX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"Muy malo"-1 , "Malo - 2", "Neutral- 3", "Bueno - 4" y "Muy Bueno- 5"</a:t>
                      </a:r>
                      <a:endParaRPr lang="es-E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434393"/>
                  </a:ext>
                </a:extLst>
              </a:tr>
              <a:tr h="2832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Rapidez</a:t>
                      </a:r>
                      <a:endParaRPr lang="es-MX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Cualitativa ordinal</a:t>
                      </a:r>
                      <a:endParaRPr lang="es-MX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"Muy malo"-1 , "Malo - 2", "Neutral- 3", "Bueno - 4" y "Muy Bueno- 5"</a:t>
                      </a:r>
                      <a:endParaRPr lang="es-E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460954"/>
                  </a:ext>
                </a:extLst>
              </a:tr>
              <a:tr h="5074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Comentarios</a:t>
                      </a:r>
                      <a:endParaRPr lang="es-MX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Cualitativa (texto libre)</a:t>
                      </a:r>
                      <a:endParaRPr lang="es-MX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Variable cualitativa no estructurada, se analiza mediante técnicas de procesamiento de lenguaje. (NLP)</a:t>
                      </a:r>
                      <a:endParaRPr lang="es-E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31" marR="8231" marT="82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556375"/>
                  </a:ext>
                </a:extLst>
              </a:tr>
            </a:tbl>
          </a:graphicData>
        </a:graphic>
      </p:graphicFrame>
      <p:sp>
        <p:nvSpPr>
          <p:cNvPr id="7" name="Título 1">
            <a:extLst>
              <a:ext uri="{FF2B5EF4-FFF2-40B4-BE49-F238E27FC236}">
                <a16:creationId xmlns:a16="http://schemas.microsoft.com/office/drawing/2014/main" id="{6D14D38E-4C2F-FA1A-665C-C46814552950}"/>
              </a:ext>
            </a:extLst>
          </p:cNvPr>
          <p:cNvSpPr txBox="1">
            <a:spLocks/>
          </p:cNvSpPr>
          <p:nvPr/>
        </p:nvSpPr>
        <p:spPr>
          <a:xfrm>
            <a:off x="1263446" y="1086029"/>
            <a:ext cx="6458369" cy="156446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400" b="1" dirty="0"/>
              <a:t>¿Cómo piensas hacer tu Preprocesamiento de cada atributo?</a:t>
            </a:r>
          </a:p>
        </p:txBody>
      </p:sp>
    </p:spTree>
    <p:extLst>
      <p:ext uri="{BB962C8B-B14F-4D97-AF65-F5344CB8AC3E}">
        <p14:creationId xmlns:p14="http://schemas.microsoft.com/office/powerpoint/2010/main" val="3354483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4CC9E94-D0D9-7610-019D-345457BC498A}"/>
              </a:ext>
            </a:extLst>
          </p:cNvPr>
          <p:cNvSpPr txBox="1"/>
          <p:nvPr/>
        </p:nvSpPr>
        <p:spPr>
          <a:xfrm>
            <a:off x="727788" y="2619245"/>
            <a:ext cx="78657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Desarrollar y aplicar técnicas de Procesamiento de Lenguaje Natural (PLN) y aprendizaje automático para evaluar emociones en los textos recopilados en instrumentos de servicio educativo en el área medía-superior, con el fin de apoyar la toma de decisiones institucionales.</a:t>
            </a:r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06C68CC0-923B-C704-9D76-1C620B042EE2}"/>
              </a:ext>
            </a:extLst>
          </p:cNvPr>
          <p:cNvSpPr txBox="1">
            <a:spLocks/>
          </p:cNvSpPr>
          <p:nvPr/>
        </p:nvSpPr>
        <p:spPr>
          <a:xfrm>
            <a:off x="1118087" y="1054781"/>
            <a:ext cx="6458369" cy="156446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Objetivo General</a:t>
            </a:r>
          </a:p>
        </p:txBody>
      </p:sp>
    </p:spTree>
    <p:extLst>
      <p:ext uri="{BB962C8B-B14F-4D97-AF65-F5344CB8AC3E}">
        <p14:creationId xmlns:p14="http://schemas.microsoft.com/office/powerpoint/2010/main" val="2432700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072E2-7B09-D7E1-5DBB-3545D1D7A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65FE8BA-C7D2-FB6B-91A5-CAC700A391B9}"/>
              </a:ext>
            </a:extLst>
          </p:cNvPr>
          <p:cNvSpPr txBox="1"/>
          <p:nvPr/>
        </p:nvSpPr>
        <p:spPr>
          <a:xfrm>
            <a:off x="251927" y="2724539"/>
            <a:ext cx="889207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- Obtener las Instancias para iniciar el Preprocesamiento.  </a:t>
            </a:r>
          </a:p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- Preprocesamiento de mis Atributos</a:t>
            </a:r>
          </a:p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- Investigar Literatura  (NPL y Clasificación de Emociones)</a:t>
            </a:r>
          </a:p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- Clasificar los Tipos de Emociones </a:t>
            </a:r>
            <a:r>
              <a:rPr lang="es-MX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(Positivo, Neutro, Negativo)</a:t>
            </a:r>
          </a:p>
          <a:p>
            <a:endParaRPr lang="es-MX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2E326DA-E862-CF2B-7ED4-652DF92EF97D}"/>
              </a:ext>
            </a:extLst>
          </p:cNvPr>
          <p:cNvSpPr txBox="1">
            <a:spLocks/>
          </p:cNvSpPr>
          <p:nvPr/>
        </p:nvSpPr>
        <p:spPr>
          <a:xfrm>
            <a:off x="1118087" y="1054781"/>
            <a:ext cx="6458369" cy="156446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400" b="1" dirty="0"/>
              <a:t>Objetivos Espécificos</a:t>
            </a:r>
          </a:p>
        </p:txBody>
      </p:sp>
    </p:spTree>
    <p:extLst>
      <p:ext uri="{BB962C8B-B14F-4D97-AF65-F5344CB8AC3E}">
        <p14:creationId xmlns:p14="http://schemas.microsoft.com/office/powerpoint/2010/main" val="1039446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C74A2-8445-55BC-21B1-8558E8DCD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34A0891-DFCC-19F1-F43F-9302D5C28ED5}"/>
              </a:ext>
            </a:extLst>
          </p:cNvPr>
          <p:cNvSpPr txBox="1"/>
          <p:nvPr/>
        </p:nvSpPr>
        <p:spPr>
          <a:xfrm>
            <a:off x="251927" y="2724539"/>
            <a:ext cx="88920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La investigación aportará un enfoque </a:t>
            </a:r>
            <a:r>
              <a:rPr lang="es-ES" sz="2400" b="1" dirty="0"/>
              <a:t>innovador en la aplicación del PLN para la evaluación de emociones en el ámbito de servicios educativos</a:t>
            </a:r>
            <a:r>
              <a:rPr lang="es-ES" sz="2400" dirty="0"/>
              <a:t>, un área poco explorada en comparación con el análisis en contextos académicos. La propuesta permitirá </a:t>
            </a:r>
            <a:r>
              <a:rPr lang="es-ES" sz="2400" b="1" dirty="0"/>
              <a:t>integrar inteligencia artificial con gestión educativa</a:t>
            </a:r>
            <a:r>
              <a:rPr lang="es-ES" sz="2400" dirty="0"/>
              <a:t>, contribuyendo a nuevas metodologías de </a:t>
            </a:r>
            <a:r>
              <a:rPr lang="es-ES" sz="2400" b="1" dirty="0"/>
              <a:t>evaluación de la calidad del servicio</a:t>
            </a:r>
            <a:r>
              <a:rPr lang="es-ES" sz="2400" dirty="0"/>
              <a:t> desde la perspectiva emocional de los usuarios. De este modo, se ampliará la frontera del conocimiento en la intersección de educación, inteligencia artificial y análisis de servicios.</a:t>
            </a:r>
            <a:endParaRPr lang="es-MX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8F338E66-9C68-7171-2BB2-D7C21C9FAF56}"/>
              </a:ext>
            </a:extLst>
          </p:cNvPr>
          <p:cNvSpPr txBox="1">
            <a:spLocks/>
          </p:cNvSpPr>
          <p:nvPr/>
        </p:nvSpPr>
        <p:spPr>
          <a:xfrm>
            <a:off x="1118087" y="1054781"/>
            <a:ext cx="6458369" cy="156446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400" b="1" dirty="0"/>
              <a:t>Aportación en la Frontera del Conocimiento</a:t>
            </a:r>
          </a:p>
        </p:txBody>
      </p:sp>
    </p:spTree>
    <p:extLst>
      <p:ext uri="{BB962C8B-B14F-4D97-AF65-F5344CB8AC3E}">
        <p14:creationId xmlns:p14="http://schemas.microsoft.com/office/powerpoint/2010/main" val="444703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A8A3C780-CD7E-4280-71AF-F6A8B82FEA7F}"/>
              </a:ext>
            </a:extLst>
          </p:cNvPr>
          <p:cNvSpPr txBox="1">
            <a:spLocks/>
          </p:cNvSpPr>
          <p:nvPr/>
        </p:nvSpPr>
        <p:spPr>
          <a:xfrm>
            <a:off x="211431" y="2262871"/>
            <a:ext cx="8848594" cy="45938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/>
              <a:t>- Manejo de valores nulos</a:t>
            </a:r>
          </a:p>
          <a:p>
            <a:r>
              <a:rPr lang="es-ES" sz="2000" dirty="0"/>
              <a:t>- Normalización de caracteres mal codificados </a:t>
            </a:r>
            <a:r>
              <a:rPr lang="es-ES" sz="2000" b="1" dirty="0"/>
              <a:t>(</a:t>
            </a:r>
            <a:r>
              <a:rPr lang="es-ES" sz="2000" b="1" dirty="0" err="1"/>
              <a:t>Lowercasing</a:t>
            </a:r>
            <a:r>
              <a:rPr lang="es-ES" sz="2000" b="1" dirty="0"/>
              <a:t> y normalización)</a:t>
            </a:r>
          </a:p>
          <a:p>
            <a:r>
              <a:rPr lang="es-ES" sz="2000" dirty="0"/>
              <a:t>- Eliminación de espacios extra </a:t>
            </a:r>
            <a:r>
              <a:rPr lang="es-ES" sz="2000" b="1" dirty="0"/>
              <a:t>(</a:t>
            </a:r>
            <a:r>
              <a:rPr lang="es-ES" sz="2000" b="1" dirty="0" err="1"/>
              <a:t>Tokenización</a:t>
            </a:r>
            <a:r>
              <a:rPr lang="es-ES" sz="2000" b="1" dirty="0"/>
              <a:t> segmentación)</a:t>
            </a:r>
          </a:p>
          <a:p>
            <a:r>
              <a:rPr lang="es-ES" sz="2000" dirty="0"/>
              <a:t>- Corrección ortográfica automática </a:t>
            </a:r>
            <a:r>
              <a:rPr lang="es-ES" sz="2000" b="1" dirty="0"/>
              <a:t>(</a:t>
            </a:r>
            <a:r>
              <a:rPr lang="es-ES" sz="2000" b="1" dirty="0" err="1"/>
              <a:t>BoW</a:t>
            </a:r>
            <a:r>
              <a:rPr lang="es-ES" sz="2000" b="1" dirty="0"/>
              <a:t>, TF-IDF y N-</a:t>
            </a:r>
            <a:r>
              <a:rPr lang="es-ES" sz="2000" b="1" dirty="0" err="1"/>
              <a:t>grams</a:t>
            </a:r>
            <a:r>
              <a:rPr lang="es-ES" sz="2000" b="1" dirty="0"/>
              <a:t>)</a:t>
            </a:r>
          </a:p>
          <a:p>
            <a:r>
              <a:rPr lang="es-ES" sz="2000" dirty="0"/>
              <a:t>- Uniformización de formato en la oración </a:t>
            </a:r>
            <a:r>
              <a:rPr lang="es-ES" sz="2000" b="1" dirty="0"/>
              <a:t>(</a:t>
            </a:r>
            <a:r>
              <a:rPr lang="es-ES" sz="2000" b="1" dirty="0" err="1"/>
              <a:t>Lowercasing</a:t>
            </a:r>
            <a:r>
              <a:rPr lang="es-ES" sz="2000" b="1" dirty="0"/>
              <a:t>, Lematización o </a:t>
            </a:r>
            <a:r>
              <a:rPr lang="es-ES" sz="2000" b="1" dirty="0" err="1"/>
              <a:t>Stemming</a:t>
            </a:r>
            <a:r>
              <a:rPr lang="es-ES" sz="2000" b="1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A2620EB-C671-E6D5-F6BF-56B4E894CE9E}"/>
              </a:ext>
            </a:extLst>
          </p:cNvPr>
          <p:cNvSpPr txBox="1">
            <a:spLocks/>
          </p:cNvSpPr>
          <p:nvPr/>
        </p:nvSpPr>
        <p:spPr>
          <a:xfrm>
            <a:off x="209938" y="1076343"/>
            <a:ext cx="8724123" cy="96063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400" b="1" dirty="0">
                <a:latin typeface="Arial" panose="020B0604020202020204" pitchFamily="34" charset="0"/>
                <a:cs typeface="Arial" panose="020B0604020202020204" pitchFamily="34" charset="0"/>
              </a:rPr>
              <a:t>Normalización de Datos</a:t>
            </a:r>
          </a:p>
        </p:txBody>
      </p:sp>
      <p:sp>
        <p:nvSpPr>
          <p:cNvPr id="4" name="Flecha: hacia abajo 3">
            <a:extLst>
              <a:ext uri="{FF2B5EF4-FFF2-40B4-BE49-F238E27FC236}">
                <a16:creationId xmlns:a16="http://schemas.microsoft.com/office/drawing/2014/main" id="{8472A8B9-5991-0D8B-BCCF-3674AF646513}"/>
              </a:ext>
            </a:extLst>
          </p:cNvPr>
          <p:cNvSpPr/>
          <p:nvPr/>
        </p:nvSpPr>
        <p:spPr>
          <a:xfrm>
            <a:off x="4085303" y="4559785"/>
            <a:ext cx="973394" cy="914400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7A54361-3750-8A26-2352-87A0793EB67B}"/>
              </a:ext>
            </a:extLst>
          </p:cNvPr>
          <p:cNvSpPr/>
          <p:nvPr/>
        </p:nvSpPr>
        <p:spPr>
          <a:xfrm>
            <a:off x="2665586" y="5571209"/>
            <a:ext cx="3812828" cy="105959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COMENTARIOS</a:t>
            </a:r>
          </a:p>
        </p:txBody>
      </p:sp>
    </p:spTree>
    <p:extLst>
      <p:ext uri="{BB962C8B-B14F-4D97-AF65-F5344CB8AC3E}">
        <p14:creationId xmlns:p14="http://schemas.microsoft.com/office/powerpoint/2010/main" val="147934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 de texto 2">
            <a:extLst>
              <a:ext uri="{FF2B5EF4-FFF2-40B4-BE49-F238E27FC236}">
                <a16:creationId xmlns:a16="http://schemas.microsoft.com/office/drawing/2014/main" id="{50508FD4-FFCA-3F48-774D-B0E1D4861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557" y="738182"/>
            <a:ext cx="1814830" cy="55372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r>
              <a:rPr lang="es-ES_tradnl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División de Estudios de Posgrado e Investigación</a:t>
            </a:r>
            <a:endParaRPr lang="es-MX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6" name="Picture 2" descr="Las emociones">
            <a:extLst>
              <a:ext uri="{FF2B5EF4-FFF2-40B4-BE49-F238E27FC236}">
                <a16:creationId xmlns:a16="http://schemas.microsoft.com/office/drawing/2014/main" id="{E35E1287-2157-B370-64D9-A64D37740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85546" y="1390261"/>
            <a:ext cx="5874011" cy="440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898C558-B48D-15B8-8CFC-67B8D5914916}"/>
              </a:ext>
            </a:extLst>
          </p:cNvPr>
          <p:cNvSpPr txBox="1"/>
          <p:nvPr/>
        </p:nvSpPr>
        <p:spPr>
          <a:xfrm>
            <a:off x="2128785" y="5894128"/>
            <a:ext cx="5319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Técnicas de Clasificación: </a:t>
            </a:r>
            <a:r>
              <a:rPr lang="es-MX" b="1" dirty="0"/>
              <a:t>BERT, RoBERTa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17910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 2">
            <a:extLst>
              <a:ext uri="{FF2B5EF4-FFF2-40B4-BE49-F238E27FC236}">
                <a16:creationId xmlns:a16="http://schemas.microsoft.com/office/drawing/2014/main" id="{FD5B7ECD-F683-C63C-1B28-692B1703A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557" y="738182"/>
            <a:ext cx="1814830" cy="55372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r>
              <a:rPr lang="es-ES_tradnl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División de Estudios de Posgrado e Investigación</a:t>
            </a:r>
            <a:endParaRPr lang="es-MX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D2F1E25-3E38-0B0F-B3F8-DF2B136A8FEF}"/>
              </a:ext>
            </a:extLst>
          </p:cNvPr>
          <p:cNvSpPr txBox="1">
            <a:spLocks/>
          </p:cNvSpPr>
          <p:nvPr/>
        </p:nvSpPr>
        <p:spPr>
          <a:xfrm>
            <a:off x="4438229" y="2264172"/>
            <a:ext cx="4771116" cy="45938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000" b="1" dirty="0"/>
              <a:t>Naive Bayes</a:t>
            </a:r>
          </a:p>
          <a:p>
            <a:r>
              <a:rPr lang="es-MX" sz="2000" b="1" dirty="0"/>
              <a:t>Support Vector Machine (SVM)</a:t>
            </a:r>
          </a:p>
          <a:p>
            <a:r>
              <a:rPr lang="es-MX" sz="2000" b="1" dirty="0"/>
              <a:t>Random Forest</a:t>
            </a:r>
          </a:p>
          <a:p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D104AA3-2172-23D4-7B50-A41FDC23A906}"/>
              </a:ext>
            </a:extLst>
          </p:cNvPr>
          <p:cNvSpPr txBox="1"/>
          <p:nvPr/>
        </p:nvSpPr>
        <p:spPr>
          <a:xfrm>
            <a:off x="836611" y="5187334"/>
            <a:ext cx="1900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DEEP LEARNING/ NPL AVANZADO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5FD722C-93BD-2B49-11A8-9E30AD1B5F3F}"/>
              </a:ext>
            </a:extLst>
          </p:cNvPr>
          <p:cNvSpPr txBox="1"/>
          <p:nvPr/>
        </p:nvSpPr>
        <p:spPr>
          <a:xfrm>
            <a:off x="718429" y="2855168"/>
            <a:ext cx="2304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MACHINE LEARNING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7F10426-2A89-90F1-1B9F-C04AE821C597}"/>
              </a:ext>
            </a:extLst>
          </p:cNvPr>
          <p:cNvSpPr txBox="1"/>
          <p:nvPr/>
        </p:nvSpPr>
        <p:spPr>
          <a:xfrm>
            <a:off x="4438229" y="5121896"/>
            <a:ext cx="3461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LSTM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RNN </a:t>
            </a: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0016FBAF-9324-B3EF-3019-725FE4A0049B}"/>
              </a:ext>
            </a:extLst>
          </p:cNvPr>
          <p:cNvSpPr/>
          <p:nvPr/>
        </p:nvSpPr>
        <p:spPr>
          <a:xfrm>
            <a:off x="3424305" y="4367500"/>
            <a:ext cx="914400" cy="2286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Abrir llave 10">
            <a:extLst>
              <a:ext uri="{FF2B5EF4-FFF2-40B4-BE49-F238E27FC236}">
                <a16:creationId xmlns:a16="http://schemas.microsoft.com/office/drawing/2014/main" id="{F1B54744-2B71-D4CC-128C-DF72A5F2EDEB}"/>
              </a:ext>
            </a:extLst>
          </p:cNvPr>
          <p:cNvSpPr/>
          <p:nvPr/>
        </p:nvSpPr>
        <p:spPr>
          <a:xfrm>
            <a:off x="3424305" y="1962539"/>
            <a:ext cx="914400" cy="2286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16B5054-F5CD-2D5F-84BE-4599B0DB72DF}"/>
              </a:ext>
            </a:extLst>
          </p:cNvPr>
          <p:cNvSpPr txBox="1"/>
          <p:nvPr/>
        </p:nvSpPr>
        <p:spPr>
          <a:xfrm>
            <a:off x="2903314" y="1089773"/>
            <a:ext cx="47539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latin typeface="+mj-lt"/>
              </a:rPr>
              <a:t>Técnicas por aplicar</a:t>
            </a:r>
          </a:p>
        </p:txBody>
      </p:sp>
    </p:spTree>
    <p:extLst>
      <p:ext uri="{BB962C8B-B14F-4D97-AF65-F5344CB8AC3E}">
        <p14:creationId xmlns:p14="http://schemas.microsoft.com/office/powerpoint/2010/main" val="1909305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1195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1DC942-D1E2-C799-0DC7-26220F3FB110}"/>
              </a:ext>
            </a:extLst>
          </p:cNvPr>
          <p:cNvSpPr txBox="1"/>
          <p:nvPr/>
        </p:nvSpPr>
        <p:spPr>
          <a:xfrm>
            <a:off x="261257" y="948690"/>
            <a:ext cx="862148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highlight>
                  <a:srgbClr val="FFFF00"/>
                </a:highlight>
              </a:rPr>
              <a:t>Titulo</a:t>
            </a:r>
          </a:p>
          <a:p>
            <a:r>
              <a:rPr lang="es-MX" dirty="0">
                <a:highlight>
                  <a:srgbClr val="FFFF00"/>
                </a:highlight>
              </a:rPr>
              <a:t>Objetivo General</a:t>
            </a:r>
          </a:p>
          <a:p>
            <a:r>
              <a:rPr lang="es-MX" dirty="0">
                <a:highlight>
                  <a:srgbClr val="FFFF00"/>
                </a:highlight>
              </a:rPr>
              <a:t>Objetivos Espécificos (mínimo 3)</a:t>
            </a:r>
          </a:p>
          <a:p>
            <a:r>
              <a:rPr lang="es-MX" dirty="0">
                <a:highlight>
                  <a:srgbClr val="FFFF00"/>
                </a:highlight>
              </a:rPr>
              <a:t>Aportación a la frontera del conocimiento/ciencia ¿Qué es lo que vas a hacer y que será innovadora?- DIFERENCIA DE UNO A LOS DEMÁS</a:t>
            </a:r>
          </a:p>
          <a:p>
            <a:r>
              <a:rPr lang="es-MX" dirty="0">
                <a:highlight>
                  <a:srgbClr val="FFFF00"/>
                </a:highlight>
              </a:rPr>
              <a:t>Tipo de Problema a tratar : ML (Supervisado- Clasificación y Regresión, No Supervisado- Agrupación (</a:t>
            </a:r>
            <a:r>
              <a:rPr lang="es-MX" dirty="0" err="1">
                <a:highlight>
                  <a:srgbClr val="FFFF00"/>
                </a:highlight>
              </a:rPr>
              <a:t>Clustering</a:t>
            </a:r>
            <a:r>
              <a:rPr lang="es-MX" dirty="0">
                <a:highlight>
                  <a:srgbClr val="FFFF00"/>
                </a:highlight>
              </a:rPr>
              <a:t>), Por Refuerzo)</a:t>
            </a:r>
          </a:p>
          <a:p>
            <a:endParaRPr lang="es-MX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highlight>
                  <a:srgbClr val="FFFF00"/>
                </a:highlight>
              </a:rPr>
              <a:t>Justificar con tus </a:t>
            </a:r>
            <a:r>
              <a:rPr lang="es-MX" dirty="0" err="1">
                <a:highlight>
                  <a:srgbClr val="FFFF00"/>
                </a:highlight>
              </a:rPr>
              <a:t>Árticulos</a:t>
            </a:r>
            <a:r>
              <a:rPr lang="es-MX" dirty="0">
                <a:highlight>
                  <a:srgbClr val="FFFF00"/>
                </a:highlight>
              </a:rPr>
              <a:t> </a:t>
            </a:r>
            <a:r>
              <a:rPr lang="es-MX" dirty="0">
                <a:highlight>
                  <a:srgbClr val="FFFF00"/>
                </a:highlight>
                <a:sym typeface="Wingdings" panose="05000000000000000000" pitchFamily="2" charset="2"/>
              </a:rPr>
              <a:t>  Técnicas Propuestas para usar hasta el momento.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highlight>
                  <a:srgbClr val="FFFF00"/>
                </a:highlight>
                <a:sym typeface="Wingdings" panose="05000000000000000000" pitchFamily="2" charset="2"/>
              </a:rPr>
              <a:t>* Descripción de sus Instancia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highlight>
                  <a:srgbClr val="FFFF00"/>
                </a:highlight>
                <a:sym typeface="Wingdings" panose="05000000000000000000" pitchFamily="2" charset="2"/>
              </a:rPr>
              <a:t>Como piensan en hacer su preprocesamiento de cada atributo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highlight>
                  <a:srgbClr val="FFFF00"/>
                </a:highlight>
                <a:sym typeface="Wingdings" panose="05000000000000000000" pitchFamily="2" charset="2"/>
              </a:rPr>
              <a:t>(Máximo de 10 minutos)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highlight>
                  <a:srgbClr val="FFFF00"/>
                </a:highlight>
                <a:sym typeface="Wingdings" panose="05000000000000000000" pitchFamily="2" charset="2"/>
              </a:rPr>
              <a:t>Tarea: Tomar la instancia </a:t>
            </a:r>
            <a:r>
              <a:rPr lang="es-MX" dirty="0" err="1">
                <a:highlight>
                  <a:srgbClr val="FFFF00"/>
                </a:highlight>
                <a:sym typeface="Wingdings" panose="05000000000000000000" pitchFamily="2" charset="2"/>
              </a:rPr>
              <a:t>iris_discretizada</a:t>
            </a:r>
            <a:r>
              <a:rPr lang="es-MX" dirty="0">
                <a:highlight>
                  <a:srgbClr val="FFFF00"/>
                </a:highlight>
                <a:sym typeface="Wingdings" panose="05000000000000000000" pitchFamily="2" charset="2"/>
              </a:rPr>
              <a:t> y probarla con </a:t>
            </a:r>
            <a:r>
              <a:rPr lang="es-MX" dirty="0" err="1">
                <a:highlight>
                  <a:srgbClr val="FFFF00"/>
                </a:highlight>
                <a:sym typeface="Wingdings" panose="05000000000000000000" pitchFamily="2" charset="2"/>
              </a:rPr>
              <a:t>Naive</a:t>
            </a:r>
            <a:r>
              <a:rPr lang="es-MX" dirty="0">
                <a:highlight>
                  <a:srgbClr val="FFFF00"/>
                </a:highlight>
                <a:sym typeface="Wingdings" panose="05000000000000000000" pitchFamily="2" charset="2"/>
              </a:rPr>
              <a:t> Bayes (Con las dos)</a:t>
            </a:r>
            <a:endParaRPr lang="es-MX" dirty="0">
              <a:highlight>
                <a:srgbClr val="FFFF00"/>
              </a:highlight>
            </a:endParaRP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 (</a:t>
            </a:r>
            <a:r>
              <a:rPr lang="es-MX" dirty="0" err="1"/>
              <a:t>Impacto:PRONACES</a:t>
            </a:r>
            <a:r>
              <a:rPr lang="es-MX" dirty="0"/>
              <a:t>, ODS, Plan México)</a:t>
            </a:r>
          </a:p>
        </p:txBody>
      </p:sp>
    </p:spTree>
    <p:extLst>
      <p:ext uri="{BB962C8B-B14F-4D97-AF65-F5344CB8AC3E}">
        <p14:creationId xmlns:p14="http://schemas.microsoft.com/office/powerpoint/2010/main" val="22374271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13865</TotalTime>
  <Words>655</Words>
  <Application>Microsoft Office PowerPoint</Application>
  <PresentationFormat>Presentación en pantalla (4:3)</PresentationFormat>
  <Paragraphs>77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Aptos</vt:lpstr>
      <vt:lpstr>Aptos Narrow</vt:lpstr>
      <vt:lpstr>Arial</vt:lpstr>
      <vt:lpstr>Arial Narrow</vt:lpstr>
      <vt:lpstr>Calibri</vt:lpstr>
      <vt:lpstr>Cambria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RCVC</dc:creator>
  <cp:lastModifiedBy>Miguel  Martínez Montes</cp:lastModifiedBy>
  <cp:revision>617</cp:revision>
  <dcterms:created xsi:type="dcterms:W3CDTF">2022-05-09T19:30:44Z</dcterms:created>
  <dcterms:modified xsi:type="dcterms:W3CDTF">2025-09-25T02:42:12Z</dcterms:modified>
</cp:coreProperties>
</file>